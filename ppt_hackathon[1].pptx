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8" r:id="rId1"/>
  </p:sldMasterIdLst>
  <p:notesMasterIdLst>
    <p:notesMasterId r:id="rId9"/>
  </p:notesMasterIdLst>
  <p:sldIdLst>
    <p:sldId id="291" r:id="rId2"/>
    <p:sldId id="299" r:id="rId3"/>
    <p:sldId id="290" r:id="rId4"/>
    <p:sldId id="293" r:id="rId5"/>
    <p:sldId id="294" r:id="rId6"/>
    <p:sldId id="300" r:id="rId7"/>
    <p:sldId id="29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5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AD72-F0A3-EF9B-57A6-4FF55E5F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652BDFD3-D38D-759E-CD15-D849279D0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4D0519AC-9F25-EB1A-C974-19812B0C64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1670FF1-CF98-6E19-50E1-2A4D7D121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44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4590-FC92-0715-6699-2297ADC10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75EF5-890C-0CA3-78AD-89DDA0717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2651A-7834-2099-C54F-0F3E2C3B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B06E1-EA29-C55E-1C72-80D5C7E9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06B79-7BBB-9DC4-B17E-75A633B4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27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404FB-14C4-FCEC-ADD5-0F4982EF1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026AF-7F51-E3D9-9525-A3189D2C3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260A0-B2D1-D1AB-498E-1620A1633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1F4CC-483A-3755-9C86-6659EF28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7DE7F-0849-D7A1-92A0-D7098DA7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8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BB1AE-26A4-21CE-29E3-D3CDF645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A11A0-23F8-FE05-A8FC-C4C76DD7C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20EE-EDC1-8665-83E9-5E6A3485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D4CA9-D3EC-8DB9-1BB2-FD0441270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F55E8-50B1-A276-3002-A52FEA8B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4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8D6E-E368-53C9-1543-66678B97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33483-3CDA-73FF-48EC-D7A827727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58972-B8D7-0D81-9B4E-AC7E14401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8C73E-F256-DFB6-7C0A-DF002B07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3373D-E80B-74BD-DC0D-DB053106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72FFC-EB90-7E7A-3084-1C0493B3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1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DBBE-44CF-34AA-C013-82D3965D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D4F0C-B25A-8C9F-6CA7-C5DEECC78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400E83-D8AF-E961-15B8-047C6A74B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21795-59C9-FC2F-6A69-FFEFE8B1E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64DF13-58D5-23C2-8F30-4E40F2DE2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CDF69-E816-BF0A-7748-DF420A4CA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4EADBD-E95B-001A-CB00-78C7EF87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DF30FA-7C67-238F-4519-4D7B7EA4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67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E24DA-198B-081F-2694-7C2E449E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10555-CBD2-8CEC-DF3C-EA5436982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342D8-D700-4DA7-A629-A2E9FCC92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7E918-77A7-D5EA-951C-D00D8E7E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3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38080B-B61F-3438-A814-72EE3221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2302E-9637-64C6-96FA-AD82C3A1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7786-B22C-849A-E5E2-F4D96EA8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0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D62F-F3C4-0F5E-467A-5F3123B7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3D978-8E3B-B648-BBBF-9311C393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51EF4-EA8B-A7B4-D88F-2AC57B85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5DC76-C353-C191-805D-8E8B1145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91B65-DDAE-E1EF-C4A4-F1CD2224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1B125-BC26-DBE5-100E-27B3EF705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4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0CBD8-3492-9E63-C0D4-6FD9BD88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ECD1B9-ECBB-7697-46BD-0CB2428D2B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25BBA-1DC1-A25B-F855-F95E9CF7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DF307-6239-6E6B-6690-EA4E6B740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0030A-7BF7-59F0-B721-68DE7C4F5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B705C-D296-BA36-4787-03FB51CD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01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DCEB-A754-9287-91BA-772B12B6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0A78D-DF4F-6309-AFAF-AE5B74962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8068B-EF1B-38B7-3E55-BA7E46C2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DEAA7-341C-3515-6D22-7BFCB095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5C055-E3A2-6621-9950-8260667F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38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48299E-6721-9F02-8B12-99215B81E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BD6145-DBC1-A70F-C251-0A6436E52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5D40D-AAF9-E74E-D99E-29EF6C147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E5522-37A7-4743-7818-2146B333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677CE-75C3-1637-AD68-819651D6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59861-0371-D6FF-8605-5FF4E9573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B3899B-0A77-00F6-462C-B258C19A5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EE73A-25A2-0047-E5A7-49710BE09A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4D1E-25B1-DFD0-1C8E-4A99EEFA14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EFD7A-DF2F-C9A2-B6B6-DCD537133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69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hyperlink" Target="https://www.worldbank.org/en/topic/disasterriskmanageme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drr.org/sendai-framework" TargetMode="External"/><Relationship Id="rId5" Type="http://schemas.openxmlformats.org/officeDocument/2006/relationships/hyperlink" Target="&#8211;%20https:/mausam.imd.gov.in" TargetMode="External"/><Relationship Id="rId4" Type="http://schemas.openxmlformats.org/officeDocument/2006/relationships/hyperlink" Target="https://ndma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510513" y="227477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30605"/>
            <a:ext cx="10363200" cy="1028485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2173" y="997880"/>
            <a:ext cx="8035474" cy="5536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0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000" b="1" dirty="0"/>
              <a:t>25008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Farmers often face long waiting times, lack of information regarding procurement schedules, and uncertainty about procurement status.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ID-26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Syntax Error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361EE8-ACDF-036A-7867-7812F6880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8" y="31906"/>
            <a:ext cx="1168102" cy="1148059"/>
          </a:xfrm>
          <a:prstGeom prst="flowChartConnector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DE4C2-38AC-4DC4-A976-C6CCB681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6FAF6F-C79D-DA6D-7DB6-3E1C633EE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</a:rPr>
              <a:t>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4DA36F-6DDB-48E8-A5FF-C3BC0CC5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78756-93EB-D90F-55FD-2E63C7A7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2" descr="https://www.sih.gov.in/img1/SIH-Logo.png">
            <a:extLst>
              <a:ext uri="{FF2B5EF4-FFF2-40B4-BE49-F238E27FC236}">
                <a16:creationId xmlns:a16="http://schemas.microsoft.com/office/drawing/2014/main" id="{10F36B2D-DD11-1864-1BD3-C6A062158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98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B04098-37EA-5BF1-457F-DA9164EEF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58" y="31906"/>
            <a:ext cx="1168102" cy="1148059"/>
          </a:xfrm>
          <a:prstGeom prst="flowChartConnector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2E0C9EE7-73C2-C449-37FD-0E3FBC16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089" y="-55133"/>
            <a:ext cx="7456242" cy="13255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AI-Powered Farmer Procurement Slot &amp; Queue Management Platform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42C9C13-6C12-36F7-A8B3-C8EDBC03BA4E}"/>
              </a:ext>
            </a:extLst>
          </p:cNvPr>
          <p:cNvSpPr/>
          <p:nvPr/>
        </p:nvSpPr>
        <p:spPr>
          <a:xfrm>
            <a:off x="212174" y="1179965"/>
            <a:ext cx="5786782" cy="503827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73CA1-73C6-C99F-539C-3D055FE5FA1A}"/>
              </a:ext>
            </a:extLst>
          </p:cNvPr>
          <p:cNvSpPr/>
          <p:nvPr/>
        </p:nvSpPr>
        <p:spPr>
          <a:xfrm>
            <a:off x="955701" y="1409230"/>
            <a:ext cx="5804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/>
              <a:t>Traditional Solutions</a:t>
            </a:r>
            <a:endParaRPr lang="en-IN" sz="2800" dirty="0">
              <a:latin typeface="Arial Black" panose="020B0A040201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6D5B7-16C9-F5D3-06D7-0C6A45C78140}"/>
              </a:ext>
            </a:extLst>
          </p:cNvPr>
          <p:cNvSpPr txBox="1"/>
          <p:nvPr/>
        </p:nvSpPr>
        <p:spPr>
          <a:xfrm>
            <a:off x="493776" y="2033797"/>
            <a:ext cx="51480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Long waiting hours</a:t>
            </a:r>
            <a:r>
              <a:rPr lang="en-IN" sz="2000" dirty="0"/>
              <a:t> at procurement centres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No clear information</a:t>
            </a:r>
            <a:r>
              <a:rPr lang="en-IN" sz="2000" dirty="0"/>
              <a:t> about procurement schedules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Unmanaged queues</a:t>
            </a:r>
            <a:r>
              <a:rPr lang="en-IN" sz="2000" dirty="0"/>
              <a:t> and overcrowding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Uncertainty about </a:t>
            </a:r>
            <a:r>
              <a:rPr lang="en-IN" sz="2000" b="1" dirty="0"/>
              <a:t>when their produce will be procured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Limited communication regarding </a:t>
            </a:r>
            <a:r>
              <a:rPr lang="en-IN" sz="2000" b="1" dirty="0"/>
              <a:t>slot/status updates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Lack of visibility into </a:t>
            </a:r>
            <a:r>
              <a:rPr lang="en-IN" sz="2000" b="1" dirty="0"/>
              <a:t>payment status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Repeated trips to procurement centres</a:t>
            </a:r>
            <a:endParaRPr lang="en-US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AEAEBEF-D194-83BE-BF20-9311CC1B8BB4}"/>
              </a:ext>
            </a:extLst>
          </p:cNvPr>
          <p:cNvSpPr/>
          <p:nvPr/>
        </p:nvSpPr>
        <p:spPr>
          <a:xfrm>
            <a:off x="6193045" y="1179965"/>
            <a:ext cx="5886898" cy="503827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2AB9F4-DFB8-5EEC-3212-19DF60EEDDD6}"/>
              </a:ext>
            </a:extLst>
          </p:cNvPr>
          <p:cNvSpPr/>
          <p:nvPr/>
        </p:nvSpPr>
        <p:spPr>
          <a:xfrm>
            <a:off x="6785115" y="1249048"/>
            <a:ext cx="580423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dirty="0"/>
              <a:t> Proposed Solution (Resolution)</a:t>
            </a:r>
            <a:endParaRPr lang="en-US" sz="2800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8E53E-16F9-68C6-82F4-828F63230454}"/>
              </a:ext>
            </a:extLst>
          </p:cNvPr>
          <p:cNvSpPr txBox="1"/>
          <p:nvPr/>
        </p:nvSpPr>
        <p:spPr>
          <a:xfrm>
            <a:off x="6464083" y="1824490"/>
            <a:ext cx="5344822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Farmer Registration &amp; Slot Booking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Digital Token &amp; Real-Time Queue Tracking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SMS/App Notifications &amp; Alerts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Procurement Status Tracking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Payment Status Updates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AI-based Crowd &amp; Waiting-Time Prediction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Admin Dashboard for Real-Time Monitoring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02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19516" y="-74044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3901" y="-83965"/>
            <a:ext cx="1916585" cy="97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D9EBA6-7325-0AAA-02AC-CE8C1BA02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14" y="54258"/>
            <a:ext cx="1156934" cy="1068957"/>
          </a:xfrm>
          <a:prstGeom prst="flowChartConnector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2D989A-13C2-FC63-07C0-00E7122037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486" b="3875"/>
          <a:stretch>
            <a:fillRect/>
          </a:stretch>
        </p:blipFill>
        <p:spPr>
          <a:xfrm>
            <a:off x="598415" y="849611"/>
            <a:ext cx="11762464" cy="5561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D7282F-F61A-0DC4-E87D-13E7F60B0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14" y="66241"/>
            <a:ext cx="1057558" cy="973435"/>
          </a:xfrm>
          <a:prstGeom prst="flowChartConnector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1E0B10-F435-72AB-2FBA-FBD5544E75ED}"/>
              </a:ext>
            </a:extLst>
          </p:cNvPr>
          <p:cNvSpPr txBox="1"/>
          <p:nvPr/>
        </p:nvSpPr>
        <p:spPr>
          <a:xfrm>
            <a:off x="243232" y="1528245"/>
            <a:ext cx="58527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Technically Feasible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Uses proven technologies like mobile apps, cloud, APIs, AI/ML, and SMS.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Cost Effective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Can be developed using open-source tools and scalable cloud services.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Easy to Adopt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Simple, multilingual interface for farmers and officials.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Can start with one procurement centre and expand statewide.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Government Compatible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Can integrate with existing procurement and payment systems.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High Impact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Reduces queues, waiting time, congestion, and unnecessary travel.</a:t>
            </a:r>
            <a:endParaRPr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FF257-F7B3-2F81-776A-F9E4E45CCEE9}"/>
              </a:ext>
            </a:extLst>
          </p:cNvPr>
          <p:cNvSpPr txBox="1"/>
          <p:nvPr/>
        </p:nvSpPr>
        <p:spPr>
          <a:xfrm>
            <a:off x="6289424" y="1536174"/>
            <a:ext cx="565506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High Farmer Adoption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Simple mobile + SMS-based access.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Low Operational Cost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Digital process reduces manual workload.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Scalable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Can expand from one centre to district/state level.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Sustainable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Reduces paper, congestion, and unnecessary travel.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Government Benefit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Better monitoring, planning, and transparency.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Long-Term Potential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— Can integrate with other agriculture services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BE8A8C-0E12-F0B1-20D6-477617DF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051" y="-167473"/>
            <a:ext cx="10515600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Feasibility &amp; Viability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980972-C213-7DDB-DD2C-94E1CEA4C8E5}"/>
              </a:ext>
            </a:extLst>
          </p:cNvPr>
          <p:cNvSpPr txBox="1"/>
          <p:nvPr/>
        </p:nvSpPr>
        <p:spPr>
          <a:xfrm>
            <a:off x="7738246" y="939920"/>
            <a:ext cx="42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+mn-lt"/>
              </a:rPr>
              <a:t>Viability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944E79-7F74-01BA-AF65-CDA01DC0C4FE}"/>
              </a:ext>
            </a:extLst>
          </p:cNvPr>
          <p:cNvSpPr txBox="1"/>
          <p:nvPr/>
        </p:nvSpPr>
        <p:spPr>
          <a:xfrm>
            <a:off x="2363464" y="1024815"/>
            <a:ext cx="22837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+mn-lt"/>
              </a:rPr>
              <a:t>Feasibility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E420BA-4E33-B0E7-654D-C79302310B45}"/>
              </a:ext>
            </a:extLst>
          </p:cNvPr>
          <p:cNvSpPr/>
          <p:nvPr/>
        </p:nvSpPr>
        <p:spPr>
          <a:xfrm>
            <a:off x="5754624" y="1594907"/>
            <a:ext cx="5337048" cy="422452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56F280-D7E3-749B-CE4F-4D16092DDD8C}"/>
              </a:ext>
            </a:extLst>
          </p:cNvPr>
          <p:cNvSpPr/>
          <p:nvPr/>
        </p:nvSpPr>
        <p:spPr>
          <a:xfrm>
            <a:off x="374904" y="1607419"/>
            <a:ext cx="5181600" cy="4224528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48128" y="-6869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A7A64-C8C6-97E9-66B7-A0606FC71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7576" y="1669566"/>
            <a:ext cx="5337048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Impact on Target Audience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🎯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Farmers: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Less waiting, fewer trips, and better transparency.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Procurement Centres: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Reduced congestion and smoother operations.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Officials: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Real-time monitoring and better resource planning.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💰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Government: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Improved efficiency, accountability, and farmer satisfaction.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CDEA74-EFC5-CE98-1EA0-89DAB2D23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71933" y="2399164"/>
            <a:ext cx="5181600" cy="3740491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Saves farmers’ time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Easy slot booking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Reduces overcrowding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Real-time notifications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Easy payment status tracking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Efficient centre management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AI-driven queue optimization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E93939B-4F46-5D7C-28C7-55EAA520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0"/>
            <a:ext cx="1429620" cy="1429620"/>
          </a:xfrm>
          <a:prstGeom prst="flowChartConnector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DEC55C-991C-8C49-F6FA-691CD44CEC5A}"/>
              </a:ext>
            </a:extLst>
          </p:cNvPr>
          <p:cNvSpPr txBox="1"/>
          <p:nvPr/>
        </p:nvSpPr>
        <p:spPr>
          <a:xfrm>
            <a:off x="7222725" y="1765277"/>
            <a:ext cx="38337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Benefits</a:t>
            </a: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 🌍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C08C49-C531-8CF5-3BDE-9F2C920F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3" name="Picture 2" descr="https://www.sih.gov.in/img1/SIH-Logo.png">
            <a:extLst>
              <a:ext uri="{FF2B5EF4-FFF2-40B4-BE49-F238E27FC236}">
                <a16:creationId xmlns:a16="http://schemas.microsoft.com/office/drawing/2014/main" id="{D8AD64BE-BBD0-07D1-7E12-11065DCF0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513" y="-360"/>
            <a:ext cx="1698471" cy="632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3D1538-4574-E2EC-655A-8411A56DDA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60"/>
          <a:stretch>
            <a:fillRect/>
          </a:stretch>
        </p:blipFill>
        <p:spPr>
          <a:xfrm>
            <a:off x="0" y="524578"/>
            <a:ext cx="12109540" cy="633342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50D2756-06C3-87C1-28F0-F6A524AD8CAA}"/>
              </a:ext>
            </a:extLst>
          </p:cNvPr>
          <p:cNvSpPr/>
          <p:nvPr/>
        </p:nvSpPr>
        <p:spPr>
          <a:xfrm>
            <a:off x="3206960" y="-210859"/>
            <a:ext cx="55563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Web app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38AB6D-EBD8-130F-B606-4C8928707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9116"/>
            <a:ext cx="805674" cy="741587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2840016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217813" y="10522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5DA1DA-EEB4-7157-A13E-F3928DA0788F}"/>
              </a:ext>
            </a:extLst>
          </p:cNvPr>
          <p:cNvSpPr txBox="1"/>
          <p:nvPr/>
        </p:nvSpPr>
        <p:spPr>
          <a:xfrm>
            <a:off x="1178150" y="1645297"/>
            <a:ext cx="101440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NDMA (National Disaster Management Authority)</a:t>
            </a:r>
            <a:r>
              <a:rPr lang="en-GB" sz="2000" dirty="0"/>
              <a:t> –  </a:t>
            </a:r>
            <a:r>
              <a:rPr lang="en-GB" sz="2000" dirty="0">
                <a:hlinkClick r:id="rId4"/>
              </a:rPr>
              <a:t>https://ndma.gov.in</a:t>
            </a:r>
            <a:endParaRPr lang="en-GB" sz="2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000" b="1" dirty="0"/>
              <a:t>IMD (India Meteorological Department)</a:t>
            </a:r>
            <a:r>
              <a:rPr lang="en-GB" sz="2000" dirty="0"/>
              <a:t> </a:t>
            </a:r>
            <a:r>
              <a:rPr lang="en-GB" sz="2000" dirty="0">
                <a:hlinkClick r:id="rId5"/>
              </a:rPr>
              <a:t>– https://mausam.imd.gov.in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UNDRR – Disaster Risk Reduction Guidelines</a:t>
            </a:r>
            <a:r>
              <a:rPr lang="en-GB" sz="2000" dirty="0"/>
              <a:t> – </a:t>
            </a:r>
            <a:r>
              <a:rPr lang="en-GB" sz="2000" dirty="0">
                <a:hlinkClick r:id="rId5"/>
              </a:rPr>
              <a:t>https://www.undrr.org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Sendai Framework for Disaster Risk Reduction</a:t>
            </a:r>
            <a:r>
              <a:rPr lang="en-GB" sz="2000" dirty="0"/>
              <a:t> – </a:t>
            </a:r>
            <a:r>
              <a:rPr lang="en-GB" sz="2000" dirty="0">
                <a:hlinkClick r:id="rId6"/>
              </a:rPr>
              <a:t>https://www.undrr.org/sendai-framework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World Bank Report on School Safety &amp; Disaster Preparedness</a:t>
            </a:r>
            <a:r>
              <a:rPr lang="en-GB" sz="2000" dirty="0"/>
              <a:t> – </a:t>
            </a:r>
            <a:r>
              <a:rPr lang="en-GB" sz="2000" dirty="0">
                <a:hlinkClick r:id="rId7"/>
              </a:rPr>
              <a:t>https://www.worldbank.org/en/topic/disasterriskmanagement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Research Paper:</a:t>
            </a:r>
            <a:r>
              <a:rPr lang="en-GB" sz="2000" dirty="0"/>
              <a:t> “Gamification in Disaster Preparedness Education” – </a:t>
            </a:r>
            <a:r>
              <a:rPr lang="en-GB" sz="2000" i="1" dirty="0"/>
              <a:t>International Journal of Disaster Risk Reduction</a:t>
            </a:r>
            <a:r>
              <a:rPr lang="en-GB" sz="2000" dirty="0"/>
              <a:t> (2023)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46F57C-C129-7F09-EE0B-1B532004AD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514" y="18180"/>
            <a:ext cx="1578988" cy="157898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7712</TotalTime>
  <Words>502</Words>
  <Application>Microsoft Office PowerPoint</Application>
  <PresentationFormat>Widescreen</PresentationFormat>
  <Paragraphs>81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ＭＳ Ｐゴシック</vt:lpstr>
      <vt:lpstr>Arial</vt:lpstr>
      <vt:lpstr>Arial Black</vt:lpstr>
      <vt:lpstr>Calibri</vt:lpstr>
      <vt:lpstr>Calibri Light</vt:lpstr>
      <vt:lpstr>Garamond</vt:lpstr>
      <vt:lpstr>Times New Roman</vt:lpstr>
      <vt:lpstr>TradeGothic</vt:lpstr>
      <vt:lpstr>Wingdings</vt:lpstr>
      <vt:lpstr>Office Theme</vt:lpstr>
      <vt:lpstr>SMART INDIA HACKATHON 2026</vt:lpstr>
      <vt:lpstr>AI-Powered Farmer Procurement Slot &amp; Queue Management Platform</vt:lpstr>
      <vt:lpstr>TECHNICAL APPROACH</vt:lpstr>
      <vt:lpstr>Feasibility &amp; Viability</vt:lpstr>
      <vt:lpstr>IMPACT AND BENEFITS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krishna kumar</cp:lastModifiedBy>
  <cp:revision>153</cp:revision>
  <dcterms:created xsi:type="dcterms:W3CDTF">2013-12-12T18:46:50Z</dcterms:created>
  <dcterms:modified xsi:type="dcterms:W3CDTF">2026-09-11T10:43:59Z</dcterms:modified>
  <cp:category/>
</cp:coreProperties>
</file>